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embeddedFontLs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Ar4dr72aH/23Ss8RA2xZF+N4G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customschemas.google.com/relationships/presentationmetadata" Target="meta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9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 rotWithShape="1">
          <a:blip r:embed="rId3">
            <a:alphaModFix/>
          </a:blip>
          <a:srcRect b="15751" l="13043" r="0" t="-568"/>
          <a:stretch/>
        </p:blipFill>
        <p:spPr>
          <a:xfrm>
            <a:off x="0" y="0"/>
            <a:ext cx="12583675" cy="704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0" y="2890152"/>
            <a:ext cx="1216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imes New Roman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FIN PRINT</a:t>
            </a:r>
            <a:endParaRPr i="0" sz="4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0" y="3593916"/>
            <a:ext cx="1216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Pricing Shark-Attack Risk Where It Actually Pays Off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-70675" y="4051135"/>
            <a:ext cx="1216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BC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 Business Intelligence read of the Global Shark Attack File (GSAF)</a:t>
            </a:r>
            <a:endParaRPr b="0" i="0" sz="13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B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C9BC4"/>
                </a:solidFill>
                <a:latin typeface="Calibri"/>
                <a:ea typeface="Calibri"/>
                <a:cs typeface="Calibri"/>
                <a:sym typeface="Calibri"/>
              </a:rPr>
              <a:t>Aroa   ·   Ironhack Data Analytics Bootcamp — Week 2 Quest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610326" y="515866"/>
            <a:ext cx="2940874" cy="2940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"/>
          <p:cNvPicPr preferRelativeResize="0"/>
          <p:nvPr/>
        </p:nvPicPr>
        <p:blipFill rotWithShape="1">
          <a:blip r:embed="rId3">
            <a:alphaModFix/>
          </a:blip>
          <a:srcRect b="32098" l="0" r="0" t="0"/>
          <a:stretch/>
        </p:blipFill>
        <p:spPr>
          <a:xfrm>
            <a:off x="0" y="3355850"/>
            <a:ext cx="12192000" cy="350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1371600" y="573320"/>
            <a:ext cx="10058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93E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14193E"/>
                </a:solidFill>
                <a:latin typeface="Montserrat"/>
                <a:ea typeface="Montserrat"/>
                <a:cs typeface="Montserrat"/>
                <a:sym typeface="Montserrat"/>
              </a:rPr>
              <a:t>The Business Question</a:t>
            </a:r>
            <a:endParaRPr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1463040"/>
            <a:ext cx="11064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travel insurer wants a shark-attack coverage add-on. Where should it actually make money 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not just “where is it risky,” but where does the data show the biggest gap between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what travelers fear and what actually happens?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3017520"/>
            <a:ext cx="3383280" cy="1554480"/>
          </a:xfrm>
          <a:prstGeom prst="roundRect">
            <a:avLst>
              <a:gd fmla="val 4706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48640" y="320040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A8D9"/>
              </a:buClr>
              <a:buSzPts val="3400"/>
              <a:buFont typeface="Times New Roman"/>
              <a:buNone/>
            </a:pPr>
            <a:r>
              <a:rPr b="1" i="0" lang="en-US" sz="3400" u="none" cap="none" strike="noStrike">
                <a:solidFill>
                  <a:srgbClr val="14193E"/>
                </a:solidFill>
                <a:latin typeface="Montserrat"/>
                <a:ea typeface="Montserrat"/>
                <a:cs typeface="Montserrat"/>
                <a:sym typeface="Montserrat"/>
              </a:rPr>
              <a:t>7,103</a:t>
            </a:r>
            <a:endParaRPr i="0" sz="3400" u="none" cap="none" strike="noStrike">
              <a:solidFill>
                <a:srgbClr val="14193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39319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recorded incidents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251960" y="3017520"/>
            <a:ext cx="3383280" cy="1554480"/>
          </a:xfrm>
          <a:prstGeom prst="roundRect">
            <a:avLst>
              <a:gd fmla="val 4706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251960" y="320040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A8D9"/>
              </a:buClr>
              <a:buSzPts val="3400"/>
              <a:buFont typeface="Times New Roman"/>
              <a:buNone/>
            </a:pPr>
            <a:r>
              <a:rPr b="1" i="0" lang="en-US" sz="3400" u="none" cap="none" strike="noStrike">
                <a:solidFill>
                  <a:srgbClr val="242B5C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endParaRPr i="0" sz="3400" u="none" cap="none" strike="noStrike">
              <a:solidFill>
                <a:srgbClr val="242B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251960" y="39319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cleaning techniques applied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955280" y="3017520"/>
            <a:ext cx="3383280" cy="1554480"/>
          </a:xfrm>
          <a:prstGeom prst="roundRect">
            <a:avLst>
              <a:gd fmla="val 4706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955280" y="320040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A8D9"/>
              </a:buClr>
              <a:buSzPts val="3400"/>
              <a:buFont typeface="Times New Roman"/>
              <a:buNone/>
            </a:pPr>
            <a:r>
              <a:rPr b="1" i="0" lang="en-US" sz="3400" u="none" cap="none" strike="noStrike">
                <a:solidFill>
                  <a:srgbClr val="242B5C"/>
                </a:solidFill>
                <a:latin typeface="Montserrat"/>
                <a:ea typeface="Montserrat"/>
                <a:cs typeface="Montserrat"/>
                <a:sym typeface="Montserrat"/>
              </a:rPr>
              <a:t>180+</a:t>
            </a:r>
            <a:endParaRPr i="0" sz="3400" u="none" cap="none" strike="noStrike">
              <a:solidFill>
                <a:srgbClr val="242B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955280" y="39319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years of records, 254 countries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BC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C9BC4"/>
                </a:solidFill>
                <a:latin typeface="Calibri"/>
                <a:ea typeface="Calibri"/>
                <a:cs typeface="Calibri"/>
                <a:sym typeface="Calibri"/>
              </a:rPr>
              <a:t>Data cleaned with 9 pandas techniques (junk-value mapping, regex age/date parsing, dedup) — full pipeline in cleaning.py.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B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 Print — Shark Attack Risk Pricing   |   2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" name="Google Shape;4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049" y="573329"/>
            <a:ext cx="499262" cy="49926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"/>
          <p:cNvSpPr/>
          <p:nvPr/>
        </p:nvSpPr>
        <p:spPr>
          <a:xfrm>
            <a:off x="1371600" y="50292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93E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14193E"/>
                </a:solidFill>
                <a:latin typeface="Montserrat"/>
                <a:ea typeface="Montserrat"/>
                <a:cs typeface="Montserrat"/>
                <a:sym typeface="Montserrat"/>
              </a:rPr>
              <a:t>Finding 1: Surfing Looks Risky. It Isn't.</a:t>
            </a:r>
            <a:endParaRPr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48" name="Google Shape;4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371600"/>
            <a:ext cx="694944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/>
          <p:nvPr/>
        </p:nvSpPr>
        <p:spPr>
          <a:xfrm>
            <a:off x="7772400" y="146304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8D9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1,158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7772400" y="201168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surfing attacks — the most of any activity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772400" y="283464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4A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8B3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5.9%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772400" y="338328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of those are fatal — the lowest of any common activity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7772400" y="420624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4A"/>
              </a:buClr>
              <a:buSzPts val="3000"/>
              <a:buFont typeface="Times New Roman"/>
              <a:buNone/>
            </a:pPr>
            <a:r>
              <a:rPr b="1" i="0" lang="en-US" sz="3000" u="none" cap="none" strike="noStrike">
                <a:solidFill>
                  <a:srgbClr val="8B3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36–47%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7772400" y="475488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fatality rate for swimming &amp; bathing — far rarer, far deadlier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B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9BC4"/>
                </a:solidFill>
                <a:latin typeface="Calibri"/>
                <a:ea typeface="Calibri"/>
                <a:cs typeface="Calibri"/>
                <a:sym typeface="Calibri"/>
              </a:rPr>
              <a:t>Fin Print — Shark Attack Risk Pricing   |  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049" y="573329"/>
            <a:ext cx="499262" cy="49926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"/>
          <p:cNvSpPr/>
          <p:nvPr/>
        </p:nvSpPr>
        <p:spPr>
          <a:xfrm>
            <a:off x="1371600" y="50292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93E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14193E"/>
                </a:solidFill>
                <a:latin typeface="Montserrat"/>
                <a:ea typeface="Montserrat"/>
                <a:cs typeface="Montserrat"/>
                <a:sym typeface="Montserrat"/>
              </a:rPr>
              <a:t>Finding 2: Geography Multiplies the Risk</a:t>
            </a:r>
            <a:endParaRPr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63" name="Google Shape;6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371600"/>
            <a:ext cx="694944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7772400" y="15544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USA</a:t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7772400" y="201168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Highest volume (456 incidents), lowest fatality (2.6%) — the mass market.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772400" y="28346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FA5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4A5FA5"/>
                </a:solidFill>
                <a:latin typeface="Montserrat"/>
                <a:ea typeface="Montserrat"/>
                <a:cs typeface="Montserrat"/>
                <a:sym typeface="Montserrat"/>
              </a:rPr>
              <a:t>Australia / Bahamas / South Africa / Brazil</a:t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772400" y="34290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11–15% fatality, meaningful volume — moderate uplift.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772400" y="42062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4A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8B3A4A"/>
                </a:solidFill>
                <a:latin typeface="Montserrat"/>
                <a:ea typeface="Montserrat"/>
                <a:cs typeface="Montserrat"/>
                <a:sym typeface="Montserrat"/>
              </a:rPr>
              <a:t>New Caledonia / Mexico</a:t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7772400" y="470916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39–45% fatality, but tiny volume — priced up sharply, not subsidized.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B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9BC4"/>
                </a:solidFill>
                <a:latin typeface="Calibri"/>
                <a:ea typeface="Calibri"/>
                <a:cs typeface="Calibri"/>
                <a:sym typeface="Calibri"/>
              </a:rPr>
              <a:t>Fin Print — Shark Attack Risk Pricing   |  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93E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Recommendation</a:t>
            </a:r>
            <a:endParaRPr i="0" sz="2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8640" y="1051560"/>
            <a:ext cx="1097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CADCF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product: “Fin Print”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BC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C9BC4"/>
                </a:solidFill>
                <a:latin typeface="Calibri"/>
                <a:ea typeface="Calibri"/>
                <a:cs typeface="Calibri"/>
                <a:sym typeface="Calibri"/>
              </a:rPr>
              <a:t>A shark-attack coverage add-on on top of existing travel policies — not a separate product per sport, country, or demographic.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48640" y="2377440"/>
            <a:ext cx="3566160" cy="3017520"/>
          </a:xfrm>
          <a:prstGeom prst="roundRect">
            <a:avLst>
              <a:gd fmla="val 2424" name="adj"/>
            </a:avLst>
          </a:prstGeom>
          <a:solidFill>
            <a:srgbClr val="242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777240" y="25603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F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FE8"/>
                </a:solidFill>
                <a:latin typeface="Calibri"/>
                <a:ea typeface="Calibri"/>
                <a:cs typeface="Calibri"/>
                <a:sym typeface="Calibri"/>
              </a:rPr>
              <a:t>MARKET 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77240" y="288036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Surfers</a:t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77240" y="3611880"/>
            <a:ext cx="31089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2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2F7"/>
                </a:solidFill>
                <a:latin typeface="Calibri"/>
                <a:ea typeface="Calibri"/>
                <a:cs typeface="Calibri"/>
                <a:sym typeface="Calibri"/>
              </a:rPr>
              <a:t>Highest perceived risk, lowest actual claims cost (5.9%). That gap is the margin.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343400" y="2377440"/>
            <a:ext cx="3566160" cy="3017520"/>
          </a:xfrm>
          <a:prstGeom prst="roundRect">
            <a:avLst>
              <a:gd fmla="val 2424" name="adj"/>
            </a:avLst>
          </a:prstGeom>
          <a:solidFill>
            <a:srgbClr val="242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572000" y="25603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F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FE8"/>
                </a:solidFill>
                <a:latin typeface="Calibri"/>
                <a:ea typeface="Calibri"/>
                <a:cs typeface="Calibri"/>
                <a:sym typeface="Calibri"/>
              </a:rPr>
              <a:t>PRICE HONESTLY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572000" y="288036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Swim &amp; bathe</a:t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572000" y="3611880"/>
            <a:ext cx="31089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2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2F7"/>
                </a:solidFill>
                <a:latin typeface="Calibri"/>
                <a:ea typeface="Calibri"/>
                <a:cs typeface="Calibri"/>
                <a:sym typeface="Calibri"/>
              </a:rPr>
              <a:t>Real fatality risk (36–47%) — priced at true cost, not the marketing focus.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8138160" y="2377440"/>
            <a:ext cx="3566160" cy="3017520"/>
          </a:xfrm>
          <a:prstGeom prst="roundRect">
            <a:avLst>
              <a:gd fmla="val 2424" name="adj"/>
            </a:avLst>
          </a:prstGeom>
          <a:solidFill>
            <a:srgbClr val="242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8366760" y="25603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F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FE8"/>
                </a:solidFill>
                <a:latin typeface="Calibri"/>
                <a:ea typeface="Calibri"/>
                <a:cs typeface="Calibri"/>
                <a:sym typeface="Calibri"/>
              </a:rPr>
              <a:t>VOLUME ENGINE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366760" y="288036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USA &amp; low-risk destinations</a:t>
            </a:r>
            <a:endParaRPr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366760" y="3611880"/>
            <a:ext cx="31089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2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6E2F7"/>
                </a:solidFill>
                <a:latin typeface="Calibri"/>
                <a:ea typeface="Calibri"/>
                <a:cs typeface="Calibri"/>
                <a:sym typeface="Calibri"/>
              </a:rPr>
              <a:t>Base rate, mass market. Small surcharge for high-severity outliers only.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add-on price  =  base rate  x  activity_risk_tier  x  country_price_multiplier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B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9BC4"/>
                </a:solidFill>
                <a:latin typeface="Calibri"/>
                <a:ea typeface="Calibri"/>
                <a:cs typeface="Calibri"/>
                <a:sym typeface="Calibri"/>
              </a:rPr>
              <a:t>Fin Print — Shark Attack Risk Pricing   |  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8B3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049" y="573329"/>
            <a:ext cx="499262" cy="499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1371600" y="50292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93E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14193E"/>
                </a:solidFill>
                <a:latin typeface="Montserrat"/>
                <a:ea typeface="Montserrat"/>
                <a:cs typeface="Montserrat"/>
                <a:sym typeface="Montserrat"/>
              </a:rPr>
              <a:t>Why Not One Product Per Sport (or Country, or Sex)</a:t>
            </a:r>
            <a:endParaRPr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Early drafts of this analysis proposed separate pricing angles per activity, per country, and per traveler sex. None of them hold up as standalone products: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48640" y="2286000"/>
            <a:ext cx="11064240" cy="1143000"/>
          </a:xfrm>
          <a:prstGeom prst="roundRect">
            <a:avLst>
              <a:gd fmla="val 4800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822960" y="2395728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4A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8B3A4A"/>
                </a:solidFill>
                <a:latin typeface="Montserrat"/>
                <a:ea typeface="Montserrat"/>
                <a:cs typeface="Montserrat"/>
                <a:sym typeface="Montserrat"/>
              </a:rPr>
              <a:t>Fragmenting by sport</a:t>
            </a:r>
            <a:endParaRPr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931920" y="2395728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Multiplies operational complexity for no pricing gain — the tiering formula already captures activity risk in one product.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48640" y="3611880"/>
            <a:ext cx="11064240" cy="1143000"/>
          </a:xfrm>
          <a:prstGeom prst="roundRect">
            <a:avLst>
              <a:gd fmla="val 4800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822960" y="3721608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4A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8B3A4A"/>
                </a:solidFill>
                <a:latin typeface="Montserrat"/>
                <a:ea typeface="Montserrat"/>
                <a:cs typeface="Montserrat"/>
                <a:sym typeface="Montserrat"/>
              </a:rPr>
              <a:t>Fragmenting by sex</a:t>
            </a:r>
            <a:endParaRPr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931920" y="3721608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GSAF counts attacks, not participants — more male attacks could simply mean more men practice these sports. No exposure data means no individual risk claim can be made.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48640" y="4937760"/>
            <a:ext cx="11064240" cy="1143000"/>
          </a:xfrm>
          <a:prstGeom prst="roundRect">
            <a:avLst>
              <a:gd fmla="val 4800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822960" y="5047488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4A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8B3A4A"/>
                </a:solidFill>
                <a:latin typeface="Montserrat"/>
                <a:ea typeface="Montserrat"/>
                <a:cs typeface="Montserrat"/>
                <a:sym typeface="Montserrat"/>
              </a:rPr>
              <a:t>Fragmenting by country alone</a:t>
            </a:r>
            <a:endParaRPr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3931920" y="5047488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Ignores that activity risk and country risk compound — the same formula handles both at once, no need for a country-only product.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B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9BC4"/>
                </a:solidFill>
                <a:latin typeface="Calibri"/>
                <a:ea typeface="Calibri"/>
                <a:cs typeface="Calibri"/>
                <a:sym typeface="Calibri"/>
              </a:rPr>
              <a:t>Fin Print — Shark Attack Risk Pricing   |  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7" name="Google Shape;1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049" y="573329"/>
            <a:ext cx="499262" cy="49926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/>
          <p:nvPr/>
        </p:nvSpPr>
        <p:spPr>
          <a:xfrm>
            <a:off x="1371600" y="5029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93E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14193E"/>
                </a:solidFill>
                <a:latin typeface="Montserrat"/>
                <a:ea typeface="Montserrat"/>
                <a:cs typeface="Montserrat"/>
                <a:sym typeface="Montserrat"/>
              </a:rPr>
              <a:t>Limitations</a:t>
            </a:r>
            <a:endParaRPr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48640" y="1463040"/>
            <a:ext cx="110642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Age: only ~28% of records have a usable numeric value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Dates: ~85% successfully parsed; older records lack full date info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Severity: fatal/non-fatal only — no real claim-cost (monetary)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Exposure: no participation data — we see who was attacked, not who wasn't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48640" y="3840480"/>
            <a:ext cx="11064240" cy="1645920"/>
          </a:xfrm>
          <a:prstGeom prst="roundRect">
            <a:avLst>
              <a:gd fmla="val 3333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822960" y="402336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This shows direction, not a finished rate card — the pricing formula is solid, but real premium numbers need exposure and claim-cost data that GSAF doesn't have. We chose to report that gap honestly instead of inventing numbers.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B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9BC4"/>
                </a:solidFill>
                <a:latin typeface="Calibri"/>
                <a:ea typeface="Calibri"/>
                <a:cs typeface="Calibri"/>
                <a:sym typeface="Calibri"/>
              </a:rPr>
              <a:t>Fin Print — Shark Attack Risk Pricing   |  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1513" y="411475"/>
            <a:ext cx="416242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93E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0" y="3589130"/>
            <a:ext cx="1216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imes New Roman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0" y="4366370"/>
            <a:ext cx="1216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Fin Print — Pricing Shark-Attack Risk Where It Actually Pays Off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0" y="5052170"/>
            <a:ext cx="1216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BC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BC4"/>
                </a:solidFill>
                <a:latin typeface="Calibri"/>
                <a:ea typeface="Calibri"/>
                <a:cs typeface="Calibri"/>
                <a:sym typeface="Calibri"/>
              </a:rPr>
              <a:t>github.com/aroaxinping/shark-attack-risk-analysis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0" y="5463650"/>
            <a:ext cx="1216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B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C9BC4"/>
                </a:solidFill>
                <a:latin typeface="Calibri"/>
                <a:ea typeface="Calibri"/>
                <a:cs typeface="Calibri"/>
                <a:sym typeface="Calibri"/>
              </a:rPr>
              <a:t>Aroa   ·   Ironhack Data Analytics Bootcamp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b="2263" l="2462" r="2462" t="2263"/>
          <a:stretch/>
        </p:blipFill>
        <p:spPr>
          <a:xfrm>
            <a:off x="4704299" y="730375"/>
            <a:ext cx="2752800" cy="2764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2026-07-31T11:09:16Z</dcterms:created>
  <dc:creator>PptxGenJS</dc:creator>
</cp:coreProperties>
</file>